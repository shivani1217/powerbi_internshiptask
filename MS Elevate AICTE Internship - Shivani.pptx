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70" d="100"/>
          <a:sy n="70" d="100"/>
        </p:scale>
        <p:origin x="714" y="60"/>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2.jpeg"/><Relationship Id="rId5" Type="http://schemas.openxmlformats.org/officeDocument/2006/relationships/hyperlink" Target="mailto:iamshivani8707@gmail.com"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400" dirty="0"/>
              <a:t>Global Superstore Sales &amp; Profit Analysis Dashboard</a:t>
            </a:r>
            <a:endParaRPr lang="en-US" sz="5100" b="1" dirty="0"/>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SHIVANI</a:t>
            </a:r>
          </a:p>
          <a:p>
            <a:pPr algn="l">
              <a:spcAft>
                <a:spcPts val="600"/>
              </a:spcAft>
            </a:pPr>
            <a:r>
              <a:rPr lang="en-US" sz="1600" b="1" cap="all" dirty="0"/>
              <a:t>College Name: MAKHANLAL CHATURVEDI NATIONAL UNIVERSITY OF JOURNALISM AND COMMUNICATION</a:t>
            </a:r>
          </a:p>
          <a:p>
            <a:pPr algn="l">
              <a:spcAft>
                <a:spcPts val="600"/>
              </a:spcAft>
            </a:pPr>
            <a:r>
              <a:rPr lang="en-US" sz="1600" b="1" cap="all" dirty="0"/>
              <a:t>Department: COMPUTER APPLICATION</a:t>
            </a:r>
          </a:p>
          <a:p>
            <a:pPr algn="l">
              <a:spcAft>
                <a:spcPts val="600"/>
              </a:spcAft>
            </a:pPr>
            <a:r>
              <a:rPr lang="en-US" sz="1600" b="1" cap="all" dirty="0"/>
              <a:t>Email ID</a:t>
            </a:r>
            <a:r>
              <a:rPr lang="en-US" sz="1600" cap="all" dirty="0"/>
              <a:t>: </a:t>
            </a:r>
            <a:r>
              <a:rPr lang="en-IN" sz="1600" b="1" dirty="0">
                <a:hlinkClick r:id="rId5"/>
              </a:rPr>
              <a:t>iamshivani8707@gmail.com</a:t>
            </a:r>
            <a:r>
              <a:rPr lang="en-IN" sz="1600" b="1" dirty="0"/>
              <a:t> </a:t>
            </a:r>
            <a:endParaRPr lang="en-US" sz="1600" b="1" cap="all" dirty="0"/>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6318913" y="379901"/>
            <a:ext cx="4299045" cy="5720648"/>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(Output Image)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IN" sz="2200" dirty="0">
                <a:latin typeface="Franklin Gothic Book" panose="020B0503020102020204"/>
              </a:rPr>
              <a:t>Retail Companies generate large amounts of sales data from different regions, categories, and customer segments. However, analysing this data manually is difficult and time consuming. Businesses needed an effective way to track sales performance, identify profitable products, and understand regional trends.</a:t>
            </a:r>
          </a:p>
          <a:p>
            <a:pPr marL="0" indent="0">
              <a:buNone/>
            </a:pPr>
            <a:endParaRPr lang="en-IN" sz="2200" dirty="0">
              <a:latin typeface="Franklin Gothic Book" panose="020B0503020102020204"/>
            </a:endParaRPr>
          </a:p>
          <a:p>
            <a:pPr marL="0" indent="0">
              <a:buNone/>
            </a:pPr>
            <a:r>
              <a:rPr lang="en-IN" sz="2200" dirty="0">
                <a:latin typeface="Franklin Gothic Book" panose="020B0503020102020204"/>
              </a:rPr>
              <a:t>Without proper data visualization, it becomes challenging for decision-makers to identify patterns and make strategic business decisions. </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r>
              <a:rPr lang="en-US" sz="1200" b="1" dirty="0"/>
              <a:t>The proposed solution is to develop an interactive business intelligence dashboard using Microsoft Power BI.</a:t>
            </a:r>
          </a:p>
          <a:p>
            <a:r>
              <a:rPr lang="en-US" sz="1200" b="1" dirty="0"/>
              <a:t>The dashboard will analyze retail sales data and provide insights such as:</a:t>
            </a:r>
          </a:p>
          <a:p>
            <a:r>
              <a:rPr lang="en-US" sz="1200" b="1" dirty="0"/>
              <a:t>• Total Sales and Profit</a:t>
            </a:r>
            <a:br>
              <a:rPr lang="en-US" sz="1200" b="1" dirty="0"/>
            </a:br>
            <a:r>
              <a:rPr lang="en-US" sz="1200" b="1" dirty="0"/>
              <a:t>• Sales performance by category and region</a:t>
            </a:r>
            <a:br>
              <a:rPr lang="en-US" sz="1200" b="1" dirty="0"/>
            </a:br>
            <a:r>
              <a:rPr lang="en-US" sz="1200" b="1" dirty="0"/>
              <a:t>• Product profitability analysis</a:t>
            </a:r>
            <a:br>
              <a:rPr lang="en-US" sz="1200" b="1" dirty="0"/>
            </a:br>
            <a:r>
              <a:rPr lang="en-US" sz="1200" b="1" dirty="0"/>
              <a:t>• Discount impact on profit</a:t>
            </a:r>
          </a:p>
          <a:p>
            <a:r>
              <a:rPr lang="en-US" sz="1200" b="1" dirty="0"/>
              <a:t>This system will allow decision-makers to quickly explore business data and identify opportunities for improving sales and profitability.</a:t>
            </a:r>
          </a:p>
          <a:p>
            <a:pPr marL="305435" indent="-305435">
              <a:spcBef>
                <a:spcPct val="20000"/>
              </a:spcBef>
              <a:spcAft>
                <a:spcPts val="600"/>
              </a:spcAft>
              <a:buFont typeface="Arial" panose="020B0604020202020204"/>
              <a:buChar char="•"/>
            </a:pP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fontScale="92500" lnSpcReduction="20000"/>
          </a:bodyPr>
          <a:lstStyle/>
          <a:p>
            <a:r>
              <a:rPr lang="en-IN" sz="2400" b="1" dirty="0"/>
              <a:t>Tools and Technologies Used:</a:t>
            </a:r>
          </a:p>
          <a:p>
            <a:r>
              <a:rPr lang="en-IN" sz="2400" b="1" dirty="0"/>
              <a:t>• Data Visualization Tool: Microsoft Power BI</a:t>
            </a:r>
            <a:br>
              <a:rPr lang="en-IN" sz="2400" b="1" dirty="0"/>
            </a:br>
            <a:r>
              <a:rPr lang="en-IN" sz="2400" b="1" dirty="0"/>
              <a:t>• Data Source: Retail Sales Dataset</a:t>
            </a:r>
            <a:br>
              <a:rPr lang="en-IN" sz="2400" b="1" dirty="0"/>
            </a:br>
            <a:r>
              <a:rPr lang="en-IN" sz="2400" b="1" dirty="0"/>
              <a:t>• Data Processing: Power Query Editor</a:t>
            </a:r>
            <a:br>
              <a:rPr lang="en-IN" sz="2400" b="1" dirty="0"/>
            </a:br>
            <a:r>
              <a:rPr lang="en-IN" sz="2400" b="1" dirty="0"/>
              <a:t>• Data Modelling: DAX (Data Analysis Expressions)</a:t>
            </a:r>
            <a:br>
              <a:rPr lang="en-IN" sz="2400" b="1" dirty="0"/>
            </a:br>
            <a:r>
              <a:rPr lang="en-IN" sz="2400" b="1" dirty="0"/>
              <a:t>• Visualization Techniques: Charts, KPI Cards, Slicers, and Interactive Dashboards</a:t>
            </a:r>
          </a:p>
          <a:p>
            <a:r>
              <a:rPr lang="en-IN" sz="2400" b="1" dirty="0"/>
              <a:t>Steps followed in the development:</a:t>
            </a:r>
          </a:p>
          <a:p>
            <a:r>
              <a:rPr lang="en-IN" sz="2400" b="1" dirty="0"/>
              <a:t>Data Collection</a:t>
            </a:r>
          </a:p>
          <a:p>
            <a:r>
              <a:rPr lang="en-IN" sz="2400" b="1" dirty="0"/>
              <a:t>Data Cleaning and Transformation</a:t>
            </a:r>
          </a:p>
          <a:p>
            <a:r>
              <a:rPr lang="en-IN" sz="2400" b="1" dirty="0"/>
              <a:t>Data Modelling</a:t>
            </a:r>
          </a:p>
          <a:p>
            <a:r>
              <a:rPr lang="en-IN" sz="2400" b="1" dirty="0"/>
              <a:t>Dashboard Development</a:t>
            </a:r>
          </a:p>
          <a:p>
            <a:r>
              <a:rPr lang="en-IN" sz="2400" b="1" dirty="0"/>
              <a:t>Data Visualization and Insights Generation</a:t>
            </a:r>
          </a:p>
          <a:p>
            <a:pPr marL="0" indent="0">
              <a:spcBef>
                <a:spcPct val="20000"/>
              </a:spcBef>
              <a:spcAft>
                <a:spcPts val="600"/>
              </a:spcAft>
              <a:buNone/>
            </a:pPr>
            <a:endParaRPr lang="en-GB" sz="22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a:bodyPr>
          <a:lstStyle/>
          <a:p>
            <a:r>
              <a:rPr lang="en-US" sz="1400" b="1" dirty="0"/>
              <a:t>Algorithm Selection</a:t>
            </a:r>
          </a:p>
          <a:p>
            <a:pPr marL="0" indent="0">
              <a:buNone/>
            </a:pPr>
            <a:r>
              <a:rPr lang="en-US" sz="1400" dirty="0"/>
              <a:t>The project applies </a:t>
            </a:r>
            <a:r>
              <a:rPr lang="en-US" sz="1400" b="1" dirty="0"/>
              <a:t>data analysis and visualization</a:t>
            </a:r>
            <a:r>
              <a:rPr lang="en-US" sz="1400" dirty="0"/>
              <a:t> in Microsoft Power BI rather than complex machine learning. </a:t>
            </a:r>
            <a:r>
              <a:rPr lang="en-US" sz="1400" b="1" dirty="0"/>
              <a:t>DAX functions</a:t>
            </a:r>
            <a:r>
              <a:rPr lang="en-US" sz="1400" dirty="0"/>
              <a:t> were used to calculate key KPIs like sales, profit, margin, orders, and quantity sold.</a:t>
            </a:r>
          </a:p>
          <a:p>
            <a:r>
              <a:rPr lang="en-US" sz="1400" b="1" dirty="0"/>
              <a:t>Data Input</a:t>
            </a:r>
          </a:p>
          <a:p>
            <a:pPr marL="0" indent="0">
              <a:buNone/>
            </a:pPr>
            <a:r>
              <a:rPr lang="en-US" sz="1400" dirty="0"/>
              <a:t>Inputs included transactional sales data, product details, and order records.</a:t>
            </a:r>
          </a:p>
          <a:p>
            <a:r>
              <a:rPr lang="en-US" sz="1400" b="1" dirty="0"/>
              <a:t>Training Process</a:t>
            </a:r>
          </a:p>
          <a:p>
            <a:pPr marL="0" indent="0">
              <a:buNone/>
            </a:pPr>
            <a:r>
              <a:rPr lang="en-US" sz="1400" dirty="0"/>
              <a:t>Data was cleaned and transformed with </a:t>
            </a:r>
            <a:r>
              <a:rPr lang="en-US" sz="1400" b="1" dirty="0"/>
              <a:t>Power Query</a:t>
            </a:r>
            <a:r>
              <a:rPr lang="en-US" sz="1400" dirty="0"/>
              <a:t> to ensure accuracy and consistency before analysis.</a:t>
            </a:r>
          </a:p>
          <a:p>
            <a:r>
              <a:rPr lang="en-US" sz="1400" b="1" dirty="0"/>
              <a:t>Prediction/Analysis Process</a:t>
            </a:r>
          </a:p>
          <a:p>
            <a:pPr marL="0" indent="0">
              <a:buNone/>
            </a:pPr>
            <a:r>
              <a:rPr lang="en-US" sz="1400" dirty="0"/>
              <a:t>A </a:t>
            </a:r>
            <a:r>
              <a:rPr lang="en-US" sz="1400" b="1" dirty="0"/>
              <a:t>Power BI Desktop dashboard</a:t>
            </a:r>
            <a:r>
              <a:rPr lang="en-US" sz="1400" dirty="0"/>
              <a:t> was deployed, enabling users to interact with filters and visualizations to explore business insights.</a:t>
            </a:r>
          </a:p>
          <a:p>
            <a:pPr marL="305435" indent="-305435">
              <a:spcBef>
                <a:spcPct val="20000"/>
              </a:spcBef>
              <a:spcAft>
                <a:spcPts val="600"/>
              </a:spcAft>
              <a:buFont typeface="Arial" panose="020B0604020202020204"/>
              <a:buChar char="•"/>
            </a:pPr>
            <a:endParaRPr lang="en-GB"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  Result:</a:t>
            </a:r>
            <a:endParaRPr lang="en-US" sz="4000" dirty="0"/>
          </a:p>
        </p:txBody>
      </p:sp>
      <p:sp>
        <p:nvSpPr>
          <p:cNvPr id="3" name="Content Placeholder 2"/>
          <p:cNvSpPr>
            <a:spLocks noGrp="1"/>
          </p:cNvSpPr>
          <p:nvPr>
            <p:ph idx="1"/>
          </p:nvPr>
        </p:nvSpPr>
        <p:spPr>
          <a:xfrm>
            <a:off x="338137" y="1584103"/>
            <a:ext cx="4247511" cy="4251960"/>
          </a:xfrm>
        </p:spPr>
        <p:txBody>
          <a:bodyPr vert="horz" lIns="91440" tIns="45720" rIns="91440" bIns="45720" rtlCol="0">
            <a:normAutofit/>
          </a:bodyPr>
          <a:lstStyle/>
          <a:p>
            <a:pPr marL="0" indent="0">
              <a:buNone/>
            </a:pPr>
            <a:r>
              <a:rPr lang="en-US" sz="1800" dirty="0"/>
              <a:t>The developed dashboard successfully visualizes retail business performance. It allows users to explore sales trends, profitability, and product performance through interactive charts and filters.</a:t>
            </a:r>
          </a:p>
          <a:p>
            <a:pPr marL="0" indent="0">
              <a:buNone/>
            </a:pPr>
            <a:endParaRPr lang="en-US" sz="1800" dirty="0"/>
          </a:p>
          <a:p>
            <a:pPr marL="0" indent="0">
              <a:buNone/>
            </a:pPr>
            <a:r>
              <a:rPr lang="en-US" sz="1800" b="1" dirty="0"/>
              <a:t>Key insights obtained include:</a:t>
            </a:r>
          </a:p>
          <a:p>
            <a:pPr marL="0" indent="0">
              <a:buNone/>
            </a:pPr>
            <a:r>
              <a:rPr lang="en-US" sz="1800" dirty="0"/>
              <a:t>• Identification of top-selling product categories</a:t>
            </a:r>
            <a:br>
              <a:rPr lang="en-US" sz="1800" dirty="0"/>
            </a:br>
            <a:r>
              <a:rPr lang="en-US" sz="1800" dirty="0"/>
              <a:t>• Regional sales performance comparison</a:t>
            </a:r>
            <a:br>
              <a:rPr lang="en-US" sz="1800" dirty="0"/>
            </a:br>
            <a:r>
              <a:rPr lang="en-US" sz="1800" dirty="0"/>
              <a:t>• Analysis of profit margins across categories</a:t>
            </a:r>
            <a:br>
              <a:rPr lang="en-US" sz="1800" dirty="0"/>
            </a:br>
            <a:r>
              <a:rPr lang="en-US" sz="1800" dirty="0"/>
              <a:t>• Impact of discounts on profitability</a:t>
            </a:r>
          </a:p>
          <a:p>
            <a:pPr marL="0" indent="0">
              <a:buNone/>
            </a:pPr>
            <a:endParaRPr lang="en-US" sz="1800" dirty="0"/>
          </a:p>
        </p:txBody>
      </p:sp>
      <p:pic>
        <p:nvPicPr>
          <p:cNvPr id="5" name="Picture 4">
            <a:extLst>
              <a:ext uri="{FF2B5EF4-FFF2-40B4-BE49-F238E27FC236}">
                <a16:creationId xmlns:a16="http://schemas.microsoft.com/office/drawing/2014/main" id="{FA81BE75-61B4-4683-F58D-D645BDDFC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0800" y="1266031"/>
            <a:ext cx="6933063" cy="49550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r>
              <a:rPr lang="en-US" sz="2400" dirty="0"/>
              <a:t>This project demonstrates the effective use of </a:t>
            </a:r>
            <a:r>
              <a:rPr lang="en-US" sz="2400" b="1" dirty="0"/>
              <a:t>business intelligence tools</a:t>
            </a:r>
            <a:r>
              <a:rPr lang="en-US" sz="2400" dirty="0"/>
              <a:t> to analyze retail sales data.</a:t>
            </a:r>
          </a:p>
          <a:p>
            <a:r>
              <a:rPr lang="en-US" sz="2400" dirty="0"/>
              <a:t>The dashboard provides meaningful insights into sales performance, product profitability, and regional trends. By transforming raw data into visual reports, businesses can make informed decisions that improve operational efficiency and profitability.</a:t>
            </a:r>
          </a:p>
          <a:p>
            <a:r>
              <a:rPr lang="en-US" sz="2400" dirty="0"/>
              <a:t>The project highlights the importance of </a:t>
            </a:r>
            <a:r>
              <a:rPr lang="en-US" sz="2400" b="1" dirty="0"/>
              <a:t>data-driven decision making in modern businesses</a:t>
            </a:r>
            <a:r>
              <a:rPr lang="en-US" sz="2400" dirty="0"/>
              <a:t>.</a:t>
            </a:r>
          </a:p>
          <a:p>
            <a:pPr marL="0" indent="0">
              <a:buNone/>
            </a:pP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panose="020B0503020102020204"/>
            </a:endParaRPr>
          </a:p>
          <a:p>
            <a:pPr marL="0" indent="0">
              <a:buNone/>
            </a:pPr>
            <a:r>
              <a:rPr lang="en-US" sz="2400" dirty="0"/>
              <a:t>Future improvements for this project may include:</a:t>
            </a:r>
          </a:p>
          <a:p>
            <a:pPr marL="0" indent="0">
              <a:buNone/>
            </a:pPr>
            <a:r>
              <a:rPr lang="en-US" sz="2400" dirty="0"/>
              <a:t>• Integration with real-time sales databases</a:t>
            </a:r>
            <a:br>
              <a:rPr lang="en-US" sz="2400" dirty="0"/>
            </a:br>
            <a:r>
              <a:rPr lang="en-US" sz="2400" dirty="0"/>
              <a:t>• Implementation of machine learning models for sales forecasting</a:t>
            </a:r>
            <a:br>
              <a:rPr lang="en-US" sz="2400" dirty="0"/>
            </a:br>
            <a:r>
              <a:rPr lang="en-US" sz="2400" dirty="0"/>
              <a:t>• Deployment of the dashboard on **Microsoft Power BI Service for online   access</a:t>
            </a:r>
            <a:br>
              <a:rPr lang="en-US" sz="2400" dirty="0"/>
            </a:br>
            <a:r>
              <a:rPr lang="en-US" sz="2400" dirty="0"/>
              <a:t>• Expansion of analysis to include customer behavior and marketing performance</a:t>
            </a:r>
          </a:p>
          <a:p>
            <a:pPr marL="0" indent="0">
              <a:buNone/>
            </a:pPr>
            <a:r>
              <a:rPr lang="en-US" sz="2400" dirty="0"/>
              <a:t>These improvements can further enhance business decision-making capabilities.</a:t>
            </a:r>
          </a:p>
          <a:p>
            <a:pPr marL="0" indent="0">
              <a:buNone/>
            </a:pPr>
            <a:endParaRPr lang="en-GB"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r>
              <a:rPr lang="en-IN" sz="2400" dirty="0"/>
              <a:t>• Microsoft Power BI Documentation</a:t>
            </a:r>
            <a:br>
              <a:rPr lang="en-IN" sz="2400" dirty="0"/>
            </a:br>
            <a:r>
              <a:rPr lang="en-IN" sz="2400" dirty="0"/>
              <a:t>• Kaggle Retail Sales Dataset</a:t>
            </a:r>
            <a:br>
              <a:rPr lang="en-IN" sz="2400" dirty="0"/>
            </a:br>
            <a:r>
              <a:rPr lang="en-IN" sz="2400" dirty="0"/>
              <a:t>• Data Visualization and Business Intelligence Resources</a:t>
            </a:r>
            <a:br>
              <a:rPr lang="en-IN" sz="2400" dirty="0"/>
            </a:br>
            <a:r>
              <a:rPr lang="en-IN" sz="2400" dirty="0"/>
              <a:t>• Online tutorials and documentation related to </a:t>
            </a:r>
            <a:r>
              <a:rPr lang="en-IN" sz="2400" b="1" dirty="0"/>
              <a:t>Microsoft Power BI</a:t>
            </a:r>
            <a:endParaRPr lang="en-IN" sz="2400" dirty="0"/>
          </a:p>
          <a:p>
            <a:r>
              <a:rPr lang="en-IN" sz="2400" dirty="0"/>
              <a:t>GitHub </a:t>
            </a:r>
            <a:r>
              <a:rPr lang="en-IN" sz="2400"/>
              <a:t>Link: </a:t>
            </a: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TotalTime>
  <Words>621</Words>
  <Application>Microsoft Office PowerPoint</Application>
  <PresentationFormat>Widescreen</PresentationFormat>
  <Paragraphs>63</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  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Shivani Shivani</cp:lastModifiedBy>
  <cp:revision>104</cp:revision>
  <dcterms:created xsi:type="dcterms:W3CDTF">2024-05-21T11:55:00Z</dcterms:created>
  <dcterms:modified xsi:type="dcterms:W3CDTF">2026-03-14T15:38:04Z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